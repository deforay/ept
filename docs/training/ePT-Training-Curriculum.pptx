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0413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800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Training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Proficiency Testing System — Training Guide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2743200" cy="0"/>
          </a:xfrm>
          <a:prstGeom prst="line">
            <a:avLst/>
          </a:prstGeom>
          <a:noFill/>
          <a:ln w="25400">
            <a:solidFill>
              <a:srgbClr val="3A3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30–45 minutes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ePT?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application used by PT Providers to manage the entire Proficiency Testing lifecycle.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84048" cy="384048"/>
          </a:xfrm>
          <a:prstGeom prst="ellipse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13055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22677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surveys and shipments across multiple test schemes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788920"/>
            <a:ext cx="384048" cy="384048"/>
          </a:xfrm>
          <a:prstGeom prst="ellipse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86207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Participants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97280" y="29992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laboratories and manage their responses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59359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Results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097280" y="37307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against reference data with configurable criteria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251960"/>
            <a:ext cx="384048" cy="384048"/>
          </a:xfrm>
          <a:prstGeom prst="ellipse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325112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9728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097280" y="44622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and PDF reports for analysis and certification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943600" y="1097280"/>
            <a:ext cx="2743200" cy="182880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12648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3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126480" y="16002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&amp; PT Managers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manage the PT program or conduct step-down trainings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(Part 3)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delivered as standalone training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Curriculum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7406640" cy="224028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Setup &amp; Participant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Survey &amp; Shipment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Participant — Result Submission &amp; Reports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~5–10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Evaluation, Reports &amp; Finalization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step-down participant training, deliver only Part 3. It is self-contained and covers everything a participant needs.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PT Lifecycle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173736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77640" cy="45720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4360" y="1179576"/>
            <a:ext cx="292608" cy="292608"/>
          </a:xfrm>
          <a:prstGeom prst="ellipse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2344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1704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: Configure Panel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164592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Participants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in Scheme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09160" y="1097280"/>
            <a:ext cx="3977640" cy="173736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09160" y="1097280"/>
            <a:ext cx="3977640" cy="457200"/>
          </a:xfrm>
          <a:prstGeom prst="rect">
            <a:avLst/>
          </a:prstGeom>
          <a:solidFill>
            <a:srgbClr val="5050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46320" y="1179576"/>
            <a:ext cx="292608" cy="292608"/>
          </a:xfrm>
          <a:prstGeom prst="ellipse">
            <a:avLst/>
          </a:prstGeom>
          <a:solidFill>
            <a:srgbClr val="5050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1234440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12080" y="11704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: Survey &amp; Ship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937760" y="164592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PT Survey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Shipment + Samples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in Shipment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PT Survey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57200" y="3063240"/>
            <a:ext cx="3977640" cy="173736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57200" y="3063240"/>
            <a:ext cx="3977640" cy="457200"/>
          </a:xfrm>
          <a:prstGeom prst="rect">
            <a:avLst/>
          </a:prstGeom>
          <a:solidFill>
            <a:srgbClr val="5A5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94360" y="3145536"/>
            <a:ext cx="292608" cy="292608"/>
          </a:xfrm>
          <a:prstGeom prst="ellipse">
            <a:avLst/>
          </a:prstGeom>
          <a:solidFill>
            <a:srgbClr val="5A5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3200400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0120" y="31363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: Participate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85800" y="36118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Results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709160" y="3063240"/>
            <a:ext cx="3977640" cy="173736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709160" y="3063240"/>
            <a:ext cx="3977640" cy="457200"/>
          </a:xfrm>
          <a:prstGeom prst="rect">
            <a:avLst/>
          </a:prstGeom>
          <a:solidFill>
            <a:srgbClr val="4444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846320" y="3145536"/>
            <a:ext cx="292608" cy="292608"/>
          </a:xfrm>
          <a:prstGeom prst="ellipse">
            <a:avLst/>
          </a:prstGeom>
          <a:solidFill>
            <a:srgbClr val="4444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184" y="3200400"/>
            <a:ext cx="182880" cy="1828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12080" y="31363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: Analyze &amp; Report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4937760" y="36118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Reports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640080" cy="640080"/>
          </a:xfrm>
          <a:prstGeom prst="ellipse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258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188720"/>
            <a:ext cx="7086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1: System Setup &amp; Participants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731520" y="2148840"/>
            <a:ext cx="2286000" cy="0"/>
          </a:xfrm>
          <a:prstGeom prst="line">
            <a:avLst/>
          </a:prstGeom>
          <a:noFill/>
          <a:ln w="25400">
            <a:solidFill>
              <a:srgbClr val="3A3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Admin  |  ~10 min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Logging In &amp; Dashboard Overview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9728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Adding Participants (single or bulk import)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9728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Scheme Enrollment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  Logging In &amp; Dashboard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the admin login page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with PT Administrator / PT Manager credentials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dashboard and left-side menu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3931920" cy="96012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80720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80160" y="2926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settings, participants, enrollments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2468880"/>
            <a:ext cx="3931920" cy="96012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46320" y="2697480"/>
            <a:ext cx="457200" cy="457200"/>
          </a:xfrm>
          <a:prstGeom prst="ellipse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80720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486400" y="2926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Surveys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3657600"/>
            <a:ext cx="3931920" cy="96012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99592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280160" y="4114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reports, finalization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663440" y="3657600"/>
            <a:ext cx="3931920" cy="96012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846320" y="3886200"/>
            <a:ext cx="457200" cy="457200"/>
          </a:xfrm>
          <a:prstGeom prst="ellipse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995928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8640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486400" y="4114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and performance reports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  Adding Participants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Participant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Configure → PT Participants → Add New Participant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required fields (name, identifier, contact)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 (Recommended)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→ PT Participants → Bulk Import Participants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Excel template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with red headings are required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can be left blank (auto-generated)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completed file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participant data ready in the Excel template before the training session.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  Scheme Enrollment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320040" cy="320040"/>
          </a:xfrm>
          <a:prstGeom prst="ellipse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21615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Configure → Scheme Enrollments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56232"/>
            <a:ext cx="320040" cy="320040"/>
          </a:xfrm>
          <a:prstGeom prst="ellipse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856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105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Lists tab, find the scheme (e.g., HIV Serology)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450592"/>
            <a:ext cx="320040" cy="320040"/>
          </a:xfrm>
          <a:prstGeom prst="ellipse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450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4048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Edit on the scheme's Default list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044952"/>
            <a:ext cx="320040" cy="320040"/>
          </a:xfrm>
          <a:prstGeom prst="ellipse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044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9992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participants in Not on this list (left) to move them to On this list (right)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639312"/>
            <a:ext cx="320040" cy="320040"/>
          </a:xfrm>
          <a:prstGeom prst="ellipse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639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59359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Save changes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54864" cy="59436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2793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</a:t>
            </a: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must be enrolled in a scheme before they can be enrolled in individual shipments under that scheme.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640080" cy="640080"/>
          </a:xfrm>
          <a:prstGeom prst="ellipse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258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188720"/>
            <a:ext cx="7086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2: PT Survey &amp; Shipment Management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731520" y="2148840"/>
            <a:ext cx="2286000" cy="0"/>
          </a:xfrm>
          <a:prstGeom prst="line">
            <a:avLst/>
          </a:prstGeom>
          <a:noFill/>
          <a:ln w="25400">
            <a:solidFill>
              <a:srgbClr val="3A3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Admin  |  ~10 min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Create a PT Survey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9728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Add a Shipment (Scheme)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9728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Enroll Participants to the Shipment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97280" y="4343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Ship the PT Survey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2.1–2.2  Create Survey &amp; Add Shipment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338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PT Survey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→ PT Survey → Add New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PT Survey Code (letters, numbers, hyphens)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PT Survey Date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Add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1338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Shipment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Add Scheme next to your survey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scheme from dropdown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Shipment Code, Due Date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3–5 samples with expected results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Add Shipment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59436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PT Survey can contain multiple shipments (different schemes).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2.3–2.4  Enroll Participants &amp; Ship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219456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338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Participants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Enroll button on the shipment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participants: Available → Enrolled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Enroll to save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scheme-enrolled participants will appear in the available list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219456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1338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PT Survey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→ PT Survey → Ship Now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when prompted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happens?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becomes visible to participants. No further structural changes should be made.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59436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54864" cy="59436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</a:t>
            </a: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is the trigger — nothing is visible to participants until this step.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640080" cy="640080"/>
          </a:xfrm>
          <a:prstGeom prst="ellipse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258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188720"/>
            <a:ext cx="7086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3: Participant View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731520" y="2148840"/>
            <a:ext cx="2286000" cy="0"/>
          </a:xfrm>
          <a:prstGeom prst="line">
            <a:avLst/>
          </a:prstGeom>
          <a:noFill/>
          <a:ln w="25400">
            <a:solidFill>
              <a:srgbClr val="3A3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Participant  |  ~5–10 min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part can be delivered standalone for participant step-down training.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Logging In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97280" y="3977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Submitting Results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97280" y="4389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Downloading Reports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3.1–3.2  Logging In &amp; Submitting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the Participant Login page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username and password (provided by PT Provider)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Submitting Results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PT Result Submission from menu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shipment, click Enter Result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test kits for each test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results for each sample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final interpretation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documentation fields (lot numbers, expiry dates)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Submit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0" y="1051560"/>
            <a:ext cx="3383280" cy="164592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03520" y="1051560"/>
            <a:ext cx="54864" cy="1645920"/>
          </a:xfrm>
          <a:prstGeom prst="rect">
            <a:avLst/>
          </a:prstGeom>
          <a:solidFill>
            <a:srgbClr val="C13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77840" y="1143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must be submitted before the Result Due Date. Late submissions may not be accepted.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3.3  Downloading Reports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6400800" cy="228600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45920" y="1664208"/>
            <a:ext cx="384048" cy="384048"/>
          </a:xfrm>
          <a:prstGeom prst="ellipse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2" y="173736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94560" y="16459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finalizes the shipment — reports become available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645920" y="2304288"/>
            <a:ext cx="384048" cy="384048"/>
          </a:xfrm>
          <a:prstGeom prst="ellipse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072" y="237744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94560" y="22860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View PT Results → Individual Reports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645920" y="2944368"/>
            <a:ext cx="384048" cy="384048"/>
          </a:xfrm>
          <a:prstGeom prst="ellipse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9072" y="301752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194560" y="29260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the shipment and download the report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645920" y="3200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includes the participant's results, scores, and any corrective actions.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note: </a:t>
            </a: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only available after the admin finalizes (Part 4) — set expectations accordingly.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640080" cy="640080"/>
          </a:xfrm>
          <a:prstGeom prst="ellipse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258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188720"/>
            <a:ext cx="7086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4: Evaluation, Reports &amp; Finalization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731520" y="2148840"/>
            <a:ext cx="2286000" cy="0"/>
          </a:xfrm>
          <a:prstGeom prst="line">
            <a:avLst/>
          </a:prstGeom>
          <a:noFill/>
          <a:ln w="25400">
            <a:solidFill>
              <a:srgbClr val="3A3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Admin  |  ~10 min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Evaluate Responses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9728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Generate Reports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9728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Finalize the Shipment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97280" y="4343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 Review Performance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4.1–4.2  Evaluate &amp; Generate Reports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274320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338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Responses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→ Evaluate Responses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shipment → click View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green Evaluate button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results table:</a:t>
            </a:r>
            <a:endParaRPr lang="en-US" sz="13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and pass/fail for each participant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run multiple times. Results are not visible to participants until finalization.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274320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1338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→ Generate Reports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shipment → click View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green Report button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Generate Participant Reports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and refresh — reports generate in background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4.3–4.4  Finalize &amp; Review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237744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solidFill>
            <a:srgbClr val="C13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338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the Shipment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→ Finalize Reports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shipment → click View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green Finalize button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Generate Reports and Finalize Shipment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1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Finalization is permanent. Ensure evaluation and reports are correct first.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237744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1338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Performance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→ Shipment Reports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green shipment code link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Excel with multiple sheets:</a:t>
            </a:r>
            <a:endParaRPr lang="en-US" sz="13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overall statistics</a:t>
            </a:r>
            <a:endParaRPr lang="en-US" sz="13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results — per-participant scores</a:t>
            </a:r>
            <a:endParaRPr lang="en-US" sz="13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Sample-level detail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8229600" cy="594360"/>
          </a:xfrm>
          <a:prstGeom prst="rect">
            <a:avLst/>
          </a:prstGeom>
          <a:solidFill>
            <a:srgbClr val="F2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</a:t>
            </a: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evaluate → generate → finalize live. Emphasize that evaluate and generate can be repeated, but finalize cannot be undone.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640080" cy="640080"/>
          </a:xfrm>
          <a:prstGeom prst="ellipse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258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188720"/>
            <a:ext cx="7086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Exercise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731520" y="2148840"/>
            <a:ext cx="2286000" cy="0"/>
          </a:xfrm>
          <a:prstGeom prst="line">
            <a:avLst/>
          </a:prstGeom>
          <a:noFill/>
          <a:ln w="25400">
            <a:solidFill>
              <a:srgbClr val="3A3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DTS HIV Serology  |  20–30 minutes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30175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PT cycle: create survey, enroll participants,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results, evaluate, and generate reports.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97280" y="38404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instance access  •  Admin credentials  •  Excel template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Exercise: DTS HIV Serology —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8 new participants (bulk import)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 participants in HIV Serology scheme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new PT Survey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DTS HIV Serology shipment with samples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 participants in the shipment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 the PT Survey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results as participants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Evaluate, generate reports, and finalize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performance 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reports as a participant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Delivering This Training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Cover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training for PT Managers / Trainers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Parts 1–4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30–45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Step-down training for participants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3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Refresher for existing admins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Parts 2 + 4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Approach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3375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test/training instance of ePT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with the hands-on exercises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participants complete the exercise during or immediately after the training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3A3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0" y="2286000"/>
            <a:ext cx="2743200" cy="0"/>
          </a:xfrm>
          <a:prstGeom prst="line">
            <a:avLst/>
          </a:prstGeom>
          <a:noFill/>
          <a:ln w="25400">
            <a:solidFill>
              <a:srgbClr val="3A3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or Issues?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3383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amit@deforay.com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github.com/deforay/ept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1244</Words>
  <Application>Microsoft Macintosh PowerPoint</Application>
  <PresentationFormat>On-screen Show (16:9)</PresentationFormat>
  <Paragraphs>278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ePT Training Curriculum</dc:title>
  <dc:subject>PptxGenJS Presentation</dc:subject>
  <dc:creator>ePT</dc:creator>
  <cp:lastModifiedBy>Amit Dugar</cp:lastModifiedBy>
  <cp:revision>5</cp:revision>
  <dcterms:created xsi:type="dcterms:W3CDTF">2026-02-18T12:56:41Z</dcterms:created>
  <dcterms:modified xsi:type="dcterms:W3CDTF">2026-02-18T13:29:38Z</dcterms:modified>
</cp:coreProperties>
</file>